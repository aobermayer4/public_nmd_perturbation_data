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57" r:id="rId4"/>
    <p:sldId id="258" r:id="rId5"/>
    <p:sldId id="266" r:id="rId6"/>
    <p:sldId id="267" r:id="rId7"/>
    <p:sldId id="260" r:id="rId8"/>
    <p:sldId id="261" r:id="rId9"/>
    <p:sldId id="262" r:id="rId10"/>
    <p:sldId id="263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119" autoAdjust="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1033E-EC63-4296-AF67-1B074F5DE50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80B60-6320-4210-AFD0-6AAF87073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5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“Biology often starts with the central dogma: DNA is copied into RNA, and RNA can be used to make protein. But this is not just a simple one-way assembly line. Cells regulate each step, especially RNA processing, to control what proteins are made, when they are made, and how much is made.” </a:t>
            </a:r>
            <a:endParaRPr lang="en-US" b="0" dirty="0">
              <a:effectLst/>
            </a:endParaRPr>
          </a:p>
          <a:p>
            <a:pPr rtl="0" fontAlgn="base"/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DNA stores genetic information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 carries or regulates that information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Proteins perform many cellular functions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 expression is the process of using DNA instructions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some DNA contains protein-coding genes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DNA produces functional non-coding RNAs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regions regulate when genes are turned on or off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regions may have no clearly defined function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 contain exons and introns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Exons are usually retained in mature RNA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Introns are removed during RNA processing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editing step is called splicing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Pre-mRNA is the first RNA copy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spliceosome removes introns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Exons are joined together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Mature mRNA can then be translated into protein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Spliceosome recognizes splice sites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intron forms a loop-like structure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intron is cut out as a lariat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Neighboring exons are ligated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Splicing is not always the same every time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Exons can be included or skipped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RNA isoforms can come from one gene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increases protein and regulatory diversity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80B60-6320-4210-AFD0-6AAF870730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3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Nonsense-mediated mRNA decay, or NMD, is both an RNA quality-control pathway and a regulator of normal transcript abundance.</a:t>
            </a:r>
          </a:p>
          <a:p>
            <a:r>
              <a:rPr lang="en-US" dirty="0"/>
              <a:t>Alternative splicing can produce premature termination codons that make individual transcript isoforms susceptible to NMD.</a:t>
            </a:r>
          </a:p>
          <a:p>
            <a:r>
              <a:rPr lang="en-US" dirty="0"/>
              <a:t>Public perturbation datasets provide an opportunity to study NMD-responsive transcripts without generating every dataset from scratch.</a:t>
            </a:r>
          </a:p>
          <a:p>
            <a:r>
              <a:rPr lang="en-US" dirty="0"/>
              <a:t>Reuse is difficult because experimental treatments, controls, sample identities, and protocols are described inconsistently across repositories.</a:t>
            </a:r>
          </a:p>
          <a:p>
            <a:r>
              <a:rPr lang="en-US" dirty="0"/>
              <a:t>Gene-level expression alone may obscure transcript- and splice-event-specific responses to NMD perturbation.</a:t>
            </a:r>
          </a:p>
          <a:p>
            <a:endParaRPr lang="en-US" dirty="0"/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 splicing can change protein domains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can alter protein location or function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can affect RNA stability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splice forms may trigger RNA decay pathways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 control + regulatory mechanism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RNA isoforms contain early stop signals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recognized as abnormal or regulated targets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NMD removes many premature-stop-containing RNAs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Splicing patterns can influence NMD sensitivity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NMD plays a role in: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Biological development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Cellular stress adaptation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Pro-tumorigenic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Tumor suppressor functions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directly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NMD resistant isoforms may result in more immunogenic neoantigens resulting in stronger immune response (positive)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NMD resistant isoforms may result in gene variants may have a negative impact on patient response to therapies (negative)</a:t>
            </a:r>
          </a:p>
          <a:p>
            <a:pPr lvl="2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Soluble PDL1 decoy</a:t>
            </a:r>
          </a:p>
          <a:p>
            <a:pPr lvl="2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ARv7 drug resistance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Impact</a:t>
            </a: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NMD sensitive or resistance transcripts via NMD burden calculation to highlight clinically relevant transcripts and mechanism of treatment response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80B60-6320-4210-AFD0-6AAF870730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67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perturbation datasets provide an opportunity to study NMD-responsive transcripts without generating every dataset from scratch.</a:t>
            </a:r>
          </a:p>
          <a:p>
            <a:r>
              <a:rPr lang="en-US" dirty="0"/>
              <a:t>Reuse is difficult because experimental treatments, controls, sample identities, and protocols are described inconsistently across repositories.</a:t>
            </a:r>
          </a:p>
          <a:p>
            <a:r>
              <a:rPr lang="en-US" dirty="0"/>
              <a:t>Gene-level expression alone may obscure transcript- and splice-event-specific responses to NMD perturbation.</a:t>
            </a:r>
          </a:p>
          <a:p>
            <a:endParaRPr lang="en-US" dirty="0"/>
          </a:p>
          <a:p>
            <a:r>
              <a:rPr lang="en-US" dirty="0"/>
              <a:t>Current heading:</a:t>
            </a:r>
          </a:p>
          <a:p>
            <a:pPr lvl="1"/>
            <a:r>
              <a:rPr lang="en-US" dirty="0"/>
              <a:t>Determine how splicing-derived transcript features influence observed NMD sensitivity</a:t>
            </a:r>
          </a:p>
          <a:p>
            <a:r>
              <a:rPr lang="en-US" dirty="0"/>
              <a:t>Gain a better understanding of how to derive these features</a:t>
            </a:r>
          </a:p>
          <a:p>
            <a:pPr lvl="1"/>
            <a:r>
              <a:rPr lang="en-US" dirty="0"/>
              <a:t>Look at </a:t>
            </a:r>
            <a:r>
              <a:rPr lang="en-US" dirty="0" err="1"/>
              <a:t>nmd</a:t>
            </a:r>
            <a:r>
              <a:rPr lang="en-US" dirty="0"/>
              <a:t> perturbation vs control</a:t>
            </a:r>
          </a:p>
          <a:p>
            <a:r>
              <a:rPr lang="en-US" dirty="0"/>
              <a:t>Curate public RNA-seq genomic datasets that measure NMD perturbation versus control</a:t>
            </a:r>
          </a:p>
          <a:p>
            <a:pPr lvl="1"/>
            <a:r>
              <a:rPr lang="en-US" dirty="0"/>
              <a:t>Quality</a:t>
            </a:r>
          </a:p>
          <a:p>
            <a:pPr lvl="1"/>
            <a:r>
              <a:rPr lang="en-US" dirty="0"/>
              <a:t>Compatibility</a:t>
            </a:r>
          </a:p>
          <a:p>
            <a:pPr lvl="1"/>
            <a:r>
              <a:rPr lang="en-US" dirty="0"/>
              <a:t>Reproducibility</a:t>
            </a:r>
          </a:p>
          <a:p>
            <a:pPr lvl="1"/>
            <a:r>
              <a:rPr lang="en-US" dirty="0"/>
              <a:t>Open-Source</a:t>
            </a:r>
          </a:p>
          <a:p>
            <a:r>
              <a:rPr lang="en-US" dirty="0"/>
              <a:t>Develop a systematic framework to identify and curate public RNA-seq studies involving NMD perturbation.</a:t>
            </a:r>
          </a:p>
          <a:p>
            <a:r>
              <a:rPr lang="en-US" dirty="0"/>
              <a:t>Determine how NMD was perturbed, which samples represent the perturbation, and which samples are appropriate matched controls.</a:t>
            </a:r>
          </a:p>
          <a:p>
            <a:r>
              <a:rPr lang="en-US" dirty="0"/>
              <a:t>Harmonize heterogeneous study- and sample-level metadata from GEO and </a:t>
            </a:r>
            <a:r>
              <a:rPr lang="en-US" dirty="0" err="1"/>
              <a:t>ArrayExpress</a:t>
            </a:r>
            <a:r>
              <a:rPr lang="en-US" dirty="0"/>
              <a:t>/</a:t>
            </a:r>
            <a:r>
              <a:rPr lang="en-US" dirty="0" err="1"/>
              <a:t>BioStudies</a:t>
            </a:r>
            <a:r>
              <a:rPr lang="en-US" dirty="0"/>
              <a:t>.</a:t>
            </a:r>
          </a:p>
          <a:p>
            <a:r>
              <a:rPr lang="en-US" dirty="0"/>
              <a:t>Prioritize studies that are sufficiently clear, replicated, and comparable for downstream transcript and splicing analysis.</a:t>
            </a:r>
          </a:p>
          <a:p>
            <a:r>
              <a:rPr lang="en-US" dirty="0"/>
              <a:t>Create a reusable and searchable resource rather than a one-time accession list.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80B60-6320-4210-AFD0-6AAF870730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21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studies were identified through literature searches and repository searches.</a:t>
            </a:r>
          </a:p>
          <a:p>
            <a:r>
              <a:rPr lang="en-US" dirty="0"/>
              <a:t>Study accessions were collected across GEO, SRA, </a:t>
            </a:r>
            <a:r>
              <a:rPr lang="en-US" dirty="0" err="1"/>
              <a:t>BioProject</a:t>
            </a:r>
            <a:r>
              <a:rPr lang="en-US" dirty="0"/>
              <a:t>, </a:t>
            </a:r>
            <a:r>
              <a:rPr lang="en-US" dirty="0" err="1"/>
              <a:t>ArrayExpress</a:t>
            </a:r>
            <a:r>
              <a:rPr lang="en-US" dirty="0"/>
              <a:t>/</a:t>
            </a:r>
            <a:r>
              <a:rPr lang="en-US" dirty="0" err="1"/>
              <a:t>BioStudies</a:t>
            </a:r>
            <a:r>
              <a:rPr lang="en-US" dirty="0"/>
              <a:t>, and related repositories.</a:t>
            </a:r>
          </a:p>
          <a:p>
            <a:r>
              <a:rPr lang="en-US" dirty="0"/>
              <a:t>Initial inclusion focused on studies with raw sequencing data and a plausible genetic or pharmacologic NMD perturbation.</a:t>
            </a:r>
          </a:p>
          <a:p>
            <a:r>
              <a:rPr lang="en-US" dirty="0"/>
              <a:t>Perturbations included: </a:t>
            </a:r>
          </a:p>
          <a:p>
            <a:pPr lvl="1"/>
            <a:r>
              <a:rPr lang="en-US" dirty="0"/>
              <a:t>siRNA or knockdown</a:t>
            </a:r>
          </a:p>
          <a:p>
            <a:pPr lvl="1"/>
            <a:r>
              <a:rPr lang="en-US" dirty="0"/>
              <a:t>knockout</a:t>
            </a:r>
          </a:p>
          <a:p>
            <a:pPr lvl="1"/>
            <a:r>
              <a:rPr lang="en-US" dirty="0"/>
              <a:t>inducible degradation or degron systems</a:t>
            </a:r>
          </a:p>
          <a:p>
            <a:pPr lvl="1"/>
            <a:r>
              <a:rPr lang="en-US" dirty="0"/>
              <a:t>NMD inhibitors</a:t>
            </a:r>
          </a:p>
          <a:p>
            <a:pPr lvl="1"/>
            <a:r>
              <a:rPr lang="en-US" dirty="0"/>
              <a:t>overexpression</a:t>
            </a:r>
          </a:p>
          <a:p>
            <a:pPr lvl="1"/>
            <a:r>
              <a:rPr lang="en-US" dirty="0"/>
              <a:t>translation-inhibiting treatments</a:t>
            </a:r>
          </a:p>
          <a:p>
            <a:r>
              <a:rPr lang="en-US" dirty="0"/>
              <a:t>Automated metadata retrieval was performed using </a:t>
            </a:r>
            <a:r>
              <a:rPr lang="en-US" dirty="0" err="1"/>
              <a:t>GEOquery</a:t>
            </a:r>
            <a:r>
              <a:rPr lang="en-US" dirty="0"/>
              <a:t> and </a:t>
            </a:r>
            <a:r>
              <a:rPr lang="en-US" dirty="0" err="1"/>
              <a:t>ArrayExpress</a:t>
            </a:r>
            <a:r>
              <a:rPr lang="en-US" dirty="0"/>
              <a:t>-based workflows.</a:t>
            </a:r>
          </a:p>
          <a:p>
            <a:r>
              <a:rPr lang="en-US" dirty="0"/>
              <a:t>GEO and </a:t>
            </a:r>
            <a:r>
              <a:rPr lang="en-US" dirty="0" err="1"/>
              <a:t>ArrayExpress</a:t>
            </a:r>
            <a:r>
              <a:rPr lang="en-US" dirty="0"/>
              <a:t> were retained as separate sources because their metadata structures differ substantially.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80B60-6320-4210-AFD0-6AAF870730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69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 metadata were converted into standardized study-level and sample-level tables.</a:t>
            </a:r>
          </a:p>
          <a:p>
            <a:r>
              <a:rPr lang="en-US" dirty="0"/>
              <a:t>Each study was manually checked for: </a:t>
            </a:r>
          </a:p>
          <a:p>
            <a:pPr lvl="1"/>
            <a:r>
              <a:rPr lang="en-US" dirty="0"/>
              <a:t>NMD factor or pathway target</a:t>
            </a:r>
          </a:p>
          <a:p>
            <a:pPr lvl="1"/>
            <a:r>
              <a:rPr lang="en-US" dirty="0"/>
              <a:t>perturbation mechanism</a:t>
            </a:r>
          </a:p>
          <a:p>
            <a:pPr lvl="1"/>
            <a:r>
              <a:rPr lang="en-US" dirty="0"/>
              <a:t>biological model or cell line</a:t>
            </a:r>
          </a:p>
          <a:p>
            <a:pPr lvl="1"/>
            <a:r>
              <a:rPr lang="en-US" dirty="0"/>
              <a:t>sample counts and replicate structure</a:t>
            </a:r>
          </a:p>
          <a:p>
            <a:pPr lvl="1"/>
            <a:r>
              <a:rPr lang="en-US" dirty="0"/>
              <a:t>matched control design</a:t>
            </a:r>
          </a:p>
          <a:p>
            <a:pPr lvl="1"/>
            <a:r>
              <a:rPr lang="en-US" dirty="0"/>
              <a:t>sequencing assay and library preparation</a:t>
            </a:r>
          </a:p>
          <a:p>
            <a:r>
              <a:rPr lang="en-US" dirty="0"/>
              <a:t>Samples were classified as: </a:t>
            </a:r>
          </a:p>
          <a:p>
            <a:pPr lvl="1"/>
            <a:r>
              <a:rPr lang="en-US" dirty="0"/>
              <a:t>clear NMD perturbation</a:t>
            </a:r>
          </a:p>
          <a:p>
            <a:pPr lvl="1"/>
            <a:r>
              <a:rPr lang="en-US" dirty="0"/>
              <a:t>matched control</a:t>
            </a:r>
          </a:p>
          <a:p>
            <a:pPr lvl="1"/>
            <a:r>
              <a:rPr lang="en-US" dirty="0"/>
              <a:t>secondary or unrelated perturbation</a:t>
            </a:r>
          </a:p>
          <a:p>
            <a:pPr lvl="1"/>
            <a:r>
              <a:rPr lang="en-US" dirty="0"/>
              <a:t>combination treatment</a:t>
            </a:r>
          </a:p>
          <a:p>
            <a:pPr lvl="1"/>
            <a:r>
              <a:rPr lang="en-US" dirty="0"/>
              <a:t>rescue or overexpression condition</a:t>
            </a:r>
          </a:p>
          <a:p>
            <a:pPr lvl="1"/>
            <a:r>
              <a:rPr lang="en-US" dirty="0"/>
              <a:t>other assay type, such as RIP-seq or Ribo-seq</a:t>
            </a:r>
          </a:p>
          <a:p>
            <a:r>
              <a:rPr lang="en-US" dirty="0"/>
              <a:t>Manual review was necessary because repository labels were often incomplete, inconsistent, or biologically ambiguous.</a:t>
            </a:r>
          </a:p>
          <a:p>
            <a:r>
              <a:rPr lang="en-US" dirty="0"/>
              <a:t>Exact sample accessions were linked to reviewed treatment and control assignments.</a:t>
            </a:r>
          </a:p>
          <a:p>
            <a:r>
              <a:rPr lang="en-US" dirty="0"/>
              <a:t>Paired-end or multi-run </a:t>
            </a:r>
            <a:r>
              <a:rPr lang="en-US" dirty="0" err="1"/>
              <a:t>ArrayExpress</a:t>
            </a:r>
            <a:r>
              <a:rPr lang="en-US" dirty="0"/>
              <a:t> records were collapsed to one row per sequenced sample where appropriate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80B60-6320-4210-AFD0-6AAF870730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49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Shiny application was developed around the manually reviewed study and sample tables.</a:t>
            </a:r>
          </a:p>
          <a:p>
            <a:r>
              <a:rPr lang="en-US" dirty="0"/>
              <a:t>Users can search using plain-language terms rather than repository-specific column names or regular expressions.</a:t>
            </a:r>
          </a:p>
          <a:p>
            <a:r>
              <a:rPr lang="en-US" dirty="0"/>
              <a:t>Searchable fields include: </a:t>
            </a:r>
          </a:p>
          <a:p>
            <a:pPr lvl="1"/>
            <a:r>
              <a:rPr lang="en-US" dirty="0"/>
              <a:t>NMD target</a:t>
            </a:r>
          </a:p>
          <a:p>
            <a:pPr lvl="1"/>
            <a:r>
              <a:rPr lang="en-US" dirty="0"/>
              <a:t>perturbation type</a:t>
            </a:r>
          </a:p>
          <a:p>
            <a:pPr lvl="1"/>
            <a:r>
              <a:rPr lang="en-US" dirty="0"/>
              <a:t>inhibitor or treatment</a:t>
            </a:r>
          </a:p>
          <a:p>
            <a:pPr lvl="1"/>
            <a:r>
              <a:rPr lang="en-US" dirty="0"/>
              <a:t>cell line or tissue</a:t>
            </a:r>
          </a:p>
          <a:p>
            <a:pPr lvl="1"/>
            <a:r>
              <a:rPr lang="en-US" dirty="0"/>
              <a:t>sequencing type</a:t>
            </a:r>
          </a:p>
          <a:p>
            <a:pPr lvl="1"/>
            <a:r>
              <a:rPr lang="en-US" dirty="0"/>
              <a:t>repository accession</a:t>
            </a:r>
          </a:p>
          <a:p>
            <a:pPr lvl="1"/>
            <a:r>
              <a:rPr lang="en-US" dirty="0"/>
              <a:t>sample classification</a:t>
            </a:r>
          </a:p>
          <a:p>
            <a:r>
              <a:rPr lang="en-US" dirty="0"/>
              <a:t>Common aliases and synonyms are expanded in the backend.</a:t>
            </a:r>
          </a:p>
          <a:p>
            <a:r>
              <a:rPr lang="en-US" dirty="0"/>
              <a:t>Reviewed annotations are treated as the primary source, while automated GEO and </a:t>
            </a:r>
            <a:r>
              <a:rPr lang="en-US" dirty="0" err="1"/>
              <a:t>ArrayExpress</a:t>
            </a:r>
            <a:r>
              <a:rPr lang="en-US" dirty="0"/>
              <a:t> metadata are retained as supplemental evidence.</a:t>
            </a:r>
          </a:p>
          <a:p>
            <a:r>
              <a:rPr lang="en-US" dirty="0"/>
              <a:t>Results are displayed in separate tabbed tables for studies, samples, QC, and supporting repository metadata.</a:t>
            </a:r>
          </a:p>
          <a:p>
            <a:r>
              <a:rPr lang="en-US" dirty="0"/>
              <a:t>Filtered results can be exported as TSV files in a ZIP archive.</a:t>
            </a:r>
          </a:p>
          <a:p>
            <a:r>
              <a:rPr lang="en-US" dirty="0"/>
              <a:t>The application was adapted for an older Shiny Server environment without relying on </a:t>
            </a:r>
            <a:r>
              <a:rPr lang="en-US" dirty="0" err="1"/>
              <a:t>bslib</a:t>
            </a:r>
            <a:r>
              <a:rPr lang="en-US" dirty="0"/>
              <a:t> or Bootstrap 5.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80B60-6320-4210-AFD0-6AAF870730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72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every dataset containing an NMD-related term is suitable for comparative analysis.</a:t>
            </a:r>
          </a:p>
          <a:p>
            <a:r>
              <a:rPr lang="en-US" dirty="0"/>
              <a:t>Confidence was assessed using practical criteria: </a:t>
            </a:r>
          </a:p>
          <a:p>
            <a:pPr lvl="1"/>
            <a:r>
              <a:rPr lang="en-US" dirty="0"/>
              <a:t>clearly defined NMD perturbation</a:t>
            </a:r>
          </a:p>
          <a:p>
            <a:pPr lvl="1"/>
            <a:r>
              <a:rPr lang="en-US" dirty="0"/>
              <a:t>identifiable matched control</a:t>
            </a:r>
          </a:p>
          <a:p>
            <a:pPr lvl="1"/>
            <a:r>
              <a:rPr lang="en-US" dirty="0"/>
              <a:t>adequate biological replication</a:t>
            </a:r>
          </a:p>
          <a:p>
            <a:pPr lvl="1"/>
            <a:r>
              <a:rPr lang="en-US" dirty="0"/>
              <a:t>raw sequencing data availability</a:t>
            </a:r>
          </a:p>
          <a:p>
            <a:pPr lvl="1"/>
            <a:r>
              <a:rPr lang="en-US" dirty="0"/>
              <a:t>clear sample-to-treatment assignments</a:t>
            </a:r>
          </a:p>
          <a:p>
            <a:pPr lvl="1"/>
            <a:r>
              <a:rPr lang="en-US" dirty="0"/>
              <a:t>documented sequencing and library design</a:t>
            </a:r>
          </a:p>
          <a:p>
            <a:pPr lvl="1"/>
            <a:r>
              <a:rPr lang="en-US" dirty="0"/>
              <a:t>similarity to another study or experimental model</a:t>
            </a:r>
          </a:p>
          <a:p>
            <a:r>
              <a:rPr lang="en-US" dirty="0"/>
              <a:t>Manually reviewed perturbation flags were kept separate from software-derived classifications.</a:t>
            </a:r>
          </a:p>
          <a:p>
            <a:r>
              <a:rPr lang="en-US" dirty="0"/>
              <a:t>High-confidence samples represent straightforward NMD perturbations with a reasonable matched control.</a:t>
            </a:r>
          </a:p>
          <a:p>
            <a:r>
              <a:rPr lang="en-US" dirty="0"/>
              <a:t>Lower-confidence cases include: </a:t>
            </a:r>
          </a:p>
          <a:p>
            <a:pPr lvl="1"/>
            <a:r>
              <a:rPr lang="en-US" dirty="0"/>
              <a:t>mixed perturbations</a:t>
            </a:r>
          </a:p>
          <a:p>
            <a:pPr lvl="1"/>
            <a:r>
              <a:rPr lang="en-US" dirty="0"/>
              <a:t>rescue experiments</a:t>
            </a:r>
          </a:p>
          <a:p>
            <a:pPr lvl="1"/>
            <a:r>
              <a:rPr lang="en-US" dirty="0"/>
              <a:t>unclear controls</a:t>
            </a:r>
          </a:p>
          <a:p>
            <a:pPr lvl="1"/>
            <a:r>
              <a:rPr lang="en-US" dirty="0"/>
              <a:t>multiple assay types</a:t>
            </a:r>
          </a:p>
          <a:p>
            <a:pPr lvl="1"/>
            <a:r>
              <a:rPr lang="en-US" dirty="0"/>
              <a:t>incomplete metadata</a:t>
            </a:r>
          </a:p>
          <a:p>
            <a:r>
              <a:rPr lang="en-US" dirty="0"/>
              <a:t>A study-level QC table compares declared sample counts with observed curated sample records.</a:t>
            </a:r>
          </a:p>
          <a:p>
            <a:r>
              <a:rPr lang="en-US" dirty="0"/>
              <a:t>Differences are flagged for review rather than automatically treated as errors, since one sample may have multiple sequencing runs.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80B60-6320-4210-AFD0-6AAF870730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5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manual validation of the remaining </a:t>
            </a:r>
            <a:r>
              <a:rPr lang="en-US" dirty="0" err="1"/>
              <a:t>ArrayExpress</a:t>
            </a:r>
            <a:r>
              <a:rPr lang="en-US" dirty="0"/>
              <a:t>/</a:t>
            </a:r>
            <a:r>
              <a:rPr lang="en-US" dirty="0" err="1"/>
              <a:t>BioStudies</a:t>
            </a:r>
            <a:r>
              <a:rPr lang="en-US" dirty="0"/>
              <a:t> samples.</a:t>
            </a:r>
          </a:p>
          <a:p>
            <a:r>
              <a:rPr lang="en-US" dirty="0"/>
              <a:t>Standardize remaining terminology for treatments, doses, time points, and control types.</a:t>
            </a:r>
          </a:p>
          <a:p>
            <a:r>
              <a:rPr lang="en-US" dirty="0"/>
              <a:t>Assign explicit comparison groups, for example: </a:t>
            </a:r>
          </a:p>
          <a:p>
            <a:pPr lvl="1"/>
            <a:r>
              <a:rPr lang="en-US" dirty="0"/>
              <a:t>UPF1 siRNA versus non-targeting siRNA</a:t>
            </a:r>
          </a:p>
          <a:p>
            <a:pPr lvl="1"/>
            <a:r>
              <a:rPr lang="en-US" dirty="0"/>
              <a:t>SMG1 inhibitor versus DMSO</a:t>
            </a:r>
          </a:p>
          <a:p>
            <a:pPr lvl="1"/>
            <a:r>
              <a:rPr lang="en-US" dirty="0"/>
              <a:t>degron-treated versus untreated genotype-matched control</a:t>
            </a:r>
          </a:p>
          <a:p>
            <a:r>
              <a:rPr lang="en-US" dirty="0"/>
              <a:t>Finalize a study-readiness matrix and prioritized shortlist.</a:t>
            </a:r>
          </a:p>
          <a:p>
            <a:r>
              <a:rPr lang="en-US" dirty="0"/>
              <a:t>Identify groups of studies with compatible: </a:t>
            </a:r>
          </a:p>
          <a:p>
            <a:pPr lvl="1"/>
            <a:r>
              <a:rPr lang="en-US" dirty="0"/>
              <a:t>NMD target</a:t>
            </a:r>
          </a:p>
          <a:p>
            <a:pPr lvl="1"/>
            <a:r>
              <a:rPr lang="en-US" dirty="0"/>
              <a:t>perturbation method</a:t>
            </a:r>
          </a:p>
          <a:p>
            <a:pPr lvl="1"/>
            <a:r>
              <a:rPr lang="en-US" dirty="0"/>
              <a:t>biological model</a:t>
            </a:r>
          </a:p>
          <a:p>
            <a:pPr lvl="1"/>
            <a:r>
              <a:rPr lang="en-US" dirty="0"/>
              <a:t>sequencing type</a:t>
            </a:r>
          </a:p>
          <a:p>
            <a:pPr lvl="1"/>
            <a:r>
              <a:rPr lang="en-US" dirty="0"/>
              <a:t>replicate structure</a:t>
            </a:r>
          </a:p>
          <a:p>
            <a:r>
              <a:rPr lang="en-US" dirty="0"/>
              <a:t>Download and process the strongest candidate RNA-seq datasets.</a:t>
            </a:r>
          </a:p>
          <a:p>
            <a:r>
              <a:rPr lang="en-US" dirty="0"/>
              <a:t>Perform initial analyses of: </a:t>
            </a:r>
          </a:p>
          <a:p>
            <a:pPr lvl="1"/>
            <a:r>
              <a:rPr lang="en-US" dirty="0"/>
              <a:t>differential gene expression</a:t>
            </a:r>
          </a:p>
          <a:p>
            <a:pPr lvl="1"/>
            <a:r>
              <a:rPr lang="en-US" dirty="0"/>
              <a:t>transcript-level changes</a:t>
            </a:r>
          </a:p>
          <a:p>
            <a:pPr lvl="1"/>
            <a:r>
              <a:rPr lang="en-US" dirty="0"/>
              <a:t>splice-junction usage</a:t>
            </a:r>
          </a:p>
          <a:p>
            <a:pPr lvl="1"/>
            <a:r>
              <a:rPr lang="en-US" dirty="0"/>
              <a:t>poison exon inclusion</a:t>
            </a:r>
          </a:p>
          <a:p>
            <a:pPr lvl="1"/>
            <a:r>
              <a:rPr lang="en-US" dirty="0"/>
              <a:t>candidate NMD burden metrics</a:t>
            </a:r>
          </a:p>
          <a:p>
            <a:r>
              <a:rPr lang="en-US" dirty="0"/>
              <a:t>Integrate tools such as </a:t>
            </a:r>
            <a:r>
              <a:rPr lang="en-US" dirty="0" err="1"/>
              <a:t>JunctionScope</a:t>
            </a:r>
            <a:r>
              <a:rPr lang="en-US" dirty="0"/>
              <a:t> for targeted splice-junction assessment.</a:t>
            </a:r>
          </a:p>
          <a:p>
            <a:r>
              <a:rPr lang="en-US" dirty="0"/>
              <a:t>Continue refining the Shiny resource as study annotations and analysis results are added.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80B60-6320-4210-AFD0-6AAF870730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4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1B6E4-345B-2909-DC04-224CD6497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B8628-37FE-8F87-114B-070694B07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02E20-5000-1424-B1A2-449BA8E5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C6D95-A6EC-29BF-1772-82293DA7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6474-0DF3-39DE-775A-E42611AF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5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C3AE-5141-2B1B-02F6-811C2D66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7ED57-449B-78EA-5CDF-9C66A75A5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6AA46-AB1D-D803-1E6F-BB049205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B119D-C37A-A626-8354-A9363DB25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8291B-2F53-9440-6D56-F781B085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3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710E-3029-851F-0A04-43AEAD201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EBC3B-AC00-AB48-0872-62722CF5A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EB888-EA99-087B-32F5-BF7A15974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96DFD-07E4-6534-FBAE-1B33393D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DCAC3-E49A-F7A6-8FC4-82415C86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0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7FCF-2598-6F25-BF8F-C4F8495B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6BF10-C1A0-F89F-64A0-2F00966D9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3DCEC-09B0-5D8A-9841-9D066B62E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C433C-1558-299A-2634-7AFCF67FD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3E598-ABEA-CB07-7C9F-22649A69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E79D4-C548-2CE9-59B1-426BDA37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81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397AF-D520-FA0C-B485-02A7F205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05BEE-800A-3923-F2AD-AF64BCBC0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0592C-5658-A686-D5D3-42531A170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63F25-61B9-A6CD-AA7E-8A692450E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30729-53A8-34DD-B9B0-8FE5AF4B47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8F258-3622-75B1-C601-05FA4BB0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7C848-2F37-E810-AA29-D3AB9D89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4BDA1-1066-F21F-7191-88DEF486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1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583B-2A5C-F9F8-0921-B0A65BCA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63CB8-3A7D-09D2-1897-7902FF17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2036A-EAD1-6D32-3193-59248566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31956-0BE3-6FFA-BA92-1B68AC3F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9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E3069-EE96-98CD-AAB1-CA06C636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3EA94F-50D8-430F-791E-0D4523AC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5168-9F5B-8FCE-3858-EFB8C50F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6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CD79-F4FC-89B2-DCFC-22AB588D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B130C-4932-0EC8-4915-E726E4C4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DD42D-57D4-6F69-5100-F8FE6CDA6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C6192-5638-E8E4-A991-1C3E69C3C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4D6BB-1829-631A-0311-ED927C73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599A6-DED6-A0FD-8639-63F57632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7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536E-636E-BBFF-33F7-0112069F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99736-9635-B079-461A-95D92F81E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AC4E6-D6CF-106B-D099-0AD904D2E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77C50-3233-2F17-C800-B370D382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1EE87-E6F4-C5DC-C778-16381EE5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9E406-902D-4801-E207-7DADE19C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9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23ED-4627-ECD7-BBE0-DDF414DD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616C5-52D7-C177-040D-8621407B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CF3C1-7A73-80DB-2F6C-A1369FE2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034C9-33B3-BA24-FBDB-6BCA35CC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BA907-82A6-8564-D060-5CACC2E5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4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F3726-F454-6DAE-02CA-D8C461D04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31D09-AA44-2BF4-FA6B-FD49E278C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A3F4F-0E50-2213-C83E-DA35E1E7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AD40B-0FC6-3888-2B52-3DEF9C67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CD01C-89A9-C9B2-B173-8D5CAD43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5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7F0F8-76DC-7F29-1C99-10436015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F4946-0015-4857-4E45-CB38B2655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4170F-289F-FD51-C8B7-6C0AF7500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4D0AA-81D1-4212-985D-F07EA16626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3BE32-2219-5F81-D565-6C9BA91BA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B6DA7-A112-2412-7C1A-63A0992F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ED107-EF85-44E2-8371-99443F19C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03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03427-EA31-CC88-7586-99548D345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Summer 2026 Independent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18B5-58A4-CDE4-C38B-71F6BD85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Alyssa Obermayer</a:t>
            </a:r>
          </a:p>
        </p:txBody>
      </p:sp>
    </p:spTree>
    <p:extLst>
      <p:ext uri="{BB962C8B-B14F-4D97-AF65-F5344CB8AC3E}">
        <p14:creationId xmlns:p14="http://schemas.microsoft.com/office/powerpoint/2010/main" val="1619858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F039-D629-1FEC-6016-83FB1176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Central Dogma and Alternative Splicing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34EC2-BCB9-256E-7C93-250A49C8F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DNA stores genetic information</a:t>
            </a:r>
          </a:p>
          <a:p>
            <a:r>
              <a:rPr lang="en-US" dirty="0"/>
              <a:t>RNA carries and/or regulates that information</a:t>
            </a:r>
          </a:p>
          <a:p>
            <a:r>
              <a:rPr lang="en-US" dirty="0"/>
              <a:t>Proteins are the synthesized functional products</a:t>
            </a:r>
          </a:p>
          <a:p>
            <a:r>
              <a:rPr lang="en-US" dirty="0"/>
              <a:t>Alternative splicing allow for flexibility and diversity within our genome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1B422-1433-F4A6-6C91-E62D19C37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44" y="2414318"/>
            <a:ext cx="6211256" cy="317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0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7A7C-6CD6-EA72-9CC0-31ABEAD6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61"/>
            <a:ext cx="10515600" cy="1325563"/>
          </a:xfrm>
        </p:spPr>
        <p:txBody>
          <a:bodyPr/>
          <a:lstStyle/>
          <a:p>
            <a:r>
              <a:rPr lang="en-US" dirty="0"/>
              <a:t>Nonsense Mediated mRNA Decay (NMD)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8F81-FF3A-FAD0-E8D9-42DE71383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604" y="1324290"/>
            <a:ext cx="10515600" cy="292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Alternative splicing can result from an error during gene regulation, or it can be the gene regulatory mechanism itself.</a:t>
            </a:r>
          </a:p>
          <a:p>
            <a:r>
              <a:rPr lang="en-US" dirty="0"/>
              <a:t>Premature termination codons (PTCs) can lead to isoform susceptibility to NMD.</a:t>
            </a:r>
          </a:p>
          <a:p>
            <a:r>
              <a:rPr lang="en-US" dirty="0"/>
              <a:t>NMD</a:t>
            </a:r>
          </a:p>
          <a:p>
            <a:pPr lvl="1"/>
            <a:r>
              <a:rPr lang="en-US" dirty="0"/>
              <a:t>RNA quality-control pathway</a:t>
            </a:r>
          </a:p>
          <a:p>
            <a:pPr lvl="1"/>
            <a:r>
              <a:rPr lang="en-US" dirty="0"/>
              <a:t>Regulator of normal transcript abundance.</a:t>
            </a:r>
          </a:p>
        </p:txBody>
      </p:sp>
      <p:pic>
        <p:nvPicPr>
          <p:cNvPr id="5" name="Picture 4" descr="Fig. 1">
            <a:extLst>
              <a:ext uri="{FF2B5EF4-FFF2-40B4-BE49-F238E27FC236}">
                <a16:creationId xmlns:a16="http://schemas.microsoft.com/office/drawing/2014/main" id="{5E896A36-7113-6532-FCCB-69A4D4AC0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00" y="2674562"/>
            <a:ext cx="4095896" cy="38183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6D93A5-AB5D-FC89-ECF9-568419D89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4201746"/>
            <a:ext cx="4813300" cy="250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0675-9344-F437-20F2-2F7E5F3B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Research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428F-AF5B-3645-F4A0-35FDC7F00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Current heading:</a:t>
            </a:r>
          </a:p>
          <a:p>
            <a:pPr lvl="1"/>
            <a:r>
              <a:rPr lang="en-US" dirty="0"/>
              <a:t>Determine how splicing-derived transcript features influence observed NMD sensitivity</a:t>
            </a:r>
          </a:p>
          <a:p>
            <a:r>
              <a:rPr lang="en-US" dirty="0"/>
              <a:t>Gain a better understanding of how to derive these features</a:t>
            </a:r>
          </a:p>
          <a:p>
            <a:pPr lvl="1"/>
            <a:r>
              <a:rPr lang="en-US" dirty="0"/>
              <a:t>Look at </a:t>
            </a:r>
            <a:r>
              <a:rPr lang="en-US" dirty="0" err="1"/>
              <a:t>nmd</a:t>
            </a:r>
            <a:r>
              <a:rPr lang="en-US" dirty="0"/>
              <a:t> perturbation vs control</a:t>
            </a:r>
          </a:p>
          <a:p>
            <a:r>
              <a:rPr lang="en-US" dirty="0"/>
              <a:t>Curate public RNA-seq genomic datasets that measure NMD perturbation versus control</a:t>
            </a:r>
          </a:p>
          <a:p>
            <a:pPr lvl="1"/>
            <a:r>
              <a:rPr lang="en-US" dirty="0"/>
              <a:t>Quality</a:t>
            </a:r>
          </a:p>
          <a:p>
            <a:pPr lvl="1"/>
            <a:r>
              <a:rPr lang="en-US" dirty="0"/>
              <a:t>Compatibility</a:t>
            </a:r>
          </a:p>
          <a:p>
            <a:pPr lvl="1"/>
            <a:r>
              <a:rPr lang="en-US" dirty="0"/>
              <a:t>Reproducibility</a:t>
            </a:r>
          </a:p>
          <a:p>
            <a:pPr lvl="1"/>
            <a:r>
              <a:rPr lang="en-US" dirty="0"/>
              <a:t>Open-Source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729CC7-3BDA-90A6-B11A-BCCC80047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912" y="4274910"/>
            <a:ext cx="5576888" cy="23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6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90E0-EEC5-F48B-2A69-0528A5D24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86275" cy="1325563"/>
          </a:xfrm>
        </p:spPr>
        <p:txBody>
          <a:bodyPr/>
          <a:lstStyle/>
          <a:p>
            <a:r>
              <a:rPr lang="en-US" dirty="0"/>
              <a:t>Directed Literature Search and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5704-86E8-7FB3-2CF9-7B7238C9C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39420" cy="4351338"/>
          </a:xfrm>
        </p:spPr>
        <p:txBody>
          <a:bodyPr/>
          <a:lstStyle/>
          <a:p>
            <a:r>
              <a:rPr lang="en-US" dirty="0"/>
              <a:t>Build and format specific literature search queries </a:t>
            </a:r>
          </a:p>
          <a:p>
            <a:r>
              <a:rPr lang="en-US" dirty="0"/>
              <a:t>Formatted for 4 major databases</a:t>
            </a:r>
          </a:p>
          <a:p>
            <a:r>
              <a:rPr lang="en-US" dirty="0"/>
              <a:t>Save and reload your search session</a:t>
            </a:r>
          </a:p>
        </p:txBody>
      </p:sp>
      <p:pic>
        <p:nvPicPr>
          <p:cNvPr id="4" name="Picture 3" descr="QueryBuilderBasics">
            <a:extLst>
              <a:ext uri="{FF2B5EF4-FFF2-40B4-BE49-F238E27FC236}">
                <a16:creationId xmlns:a16="http://schemas.microsoft.com/office/drawing/2014/main" id="{EB3B5DE0-1624-2325-774E-09CDD5D03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620" y="2270633"/>
            <a:ext cx="8547079" cy="44796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69972E-72C1-3158-E16D-5C56D867D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155" y="107697"/>
            <a:ext cx="6155544" cy="21629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EBE4E6-CB0A-D8A4-68BA-FD9EB9A63794}"/>
              </a:ext>
            </a:extLst>
          </p:cNvPr>
          <p:cNvSpPr txBox="1"/>
          <p:nvPr/>
        </p:nvSpPr>
        <p:spPr>
          <a:xfrm>
            <a:off x="361950" y="428178"/>
            <a:ext cx="11468100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(("cancer"[</a:t>
            </a:r>
            <a:r>
              <a:rPr lang="en-US" sz="2400" dirty="0" err="1"/>
              <a:t>tiab</a:t>
            </a:r>
            <a:r>
              <a:rPr lang="en-US" sz="2400" dirty="0"/>
              <a:t>] OR neoplasms[</a:t>
            </a:r>
            <a:r>
              <a:rPr lang="en-US" sz="2400" dirty="0" err="1"/>
              <a:t>MeSH</a:t>
            </a:r>
            <a:r>
              <a:rPr lang="en-US" sz="2400" dirty="0"/>
              <a:t>] OR "tumor"[</a:t>
            </a:r>
            <a:r>
              <a:rPr lang="en-US" sz="2400" dirty="0" err="1"/>
              <a:t>tiab</a:t>
            </a:r>
            <a:r>
              <a:rPr lang="en-US" sz="2400" dirty="0"/>
              <a:t>] OR "</a:t>
            </a:r>
            <a:r>
              <a:rPr lang="en-US" sz="2400" dirty="0" err="1"/>
              <a:t>tumour</a:t>
            </a:r>
            <a:r>
              <a:rPr lang="en-US" sz="2400" dirty="0"/>
              <a:t>"[</a:t>
            </a:r>
            <a:r>
              <a:rPr lang="en-US" sz="2400" dirty="0" err="1"/>
              <a:t>tiab</a:t>
            </a:r>
            <a:r>
              <a:rPr lang="en-US" sz="2400" dirty="0"/>
              <a:t>] OR "carcinoma*"[</a:t>
            </a:r>
            <a:r>
              <a:rPr lang="en-US" sz="2400" dirty="0" err="1"/>
              <a:t>tiab</a:t>
            </a:r>
            <a:r>
              <a:rPr lang="en-US" sz="2400" dirty="0"/>
              <a:t>]) AND ("</a:t>
            </a:r>
            <a:r>
              <a:rPr lang="en-US" sz="2400" b="1" dirty="0"/>
              <a:t>nonsense mediated mRNA decay</a:t>
            </a:r>
            <a:r>
              <a:rPr lang="en-US" sz="2400" dirty="0"/>
              <a:t>"[</a:t>
            </a:r>
            <a:r>
              <a:rPr lang="en-US" sz="2400" dirty="0" err="1"/>
              <a:t>MeSH</a:t>
            </a:r>
            <a:r>
              <a:rPr lang="en-US" sz="2400" dirty="0"/>
              <a:t>] OR "nonsense mediated decay"[</a:t>
            </a:r>
            <a:r>
              <a:rPr lang="en-US" sz="2400" dirty="0" err="1"/>
              <a:t>tiab</a:t>
            </a:r>
            <a:r>
              <a:rPr lang="en-US" sz="2400" dirty="0"/>
              <a:t>:~3] OR "NMD"[</a:t>
            </a:r>
            <a:r>
              <a:rPr lang="en-US" sz="2400" dirty="0" err="1"/>
              <a:t>tiab</a:t>
            </a:r>
            <a:r>
              <a:rPr lang="en-US" sz="2400" dirty="0"/>
              <a:t>] OR "nonsense mediated RNA decay"[</a:t>
            </a:r>
            <a:r>
              <a:rPr lang="en-US" sz="2400" dirty="0" err="1"/>
              <a:t>tiab</a:t>
            </a:r>
            <a:r>
              <a:rPr lang="en-US" sz="2400" dirty="0"/>
              <a:t>:~3] OR "</a:t>
            </a:r>
            <a:r>
              <a:rPr lang="en-US" sz="2400" b="1" dirty="0"/>
              <a:t>premature termination codon</a:t>
            </a:r>
            <a:r>
              <a:rPr lang="en-US" sz="2400" dirty="0"/>
              <a:t>"[</a:t>
            </a:r>
            <a:r>
              <a:rPr lang="en-US" sz="2400" dirty="0" err="1"/>
              <a:t>tiab</a:t>
            </a:r>
            <a:r>
              <a:rPr lang="en-US" sz="2400" dirty="0"/>
              <a:t>:~4] OR "truncated transcript"[</a:t>
            </a:r>
            <a:r>
              <a:rPr lang="en-US" sz="2400" dirty="0" err="1"/>
              <a:t>tiab</a:t>
            </a:r>
            <a:r>
              <a:rPr lang="en-US" sz="2400" dirty="0"/>
              <a:t>:~4] OR "nonsense mediated degradation"[</a:t>
            </a:r>
            <a:r>
              <a:rPr lang="en-US" sz="2400" dirty="0" err="1"/>
              <a:t>tiab</a:t>
            </a:r>
            <a:r>
              <a:rPr lang="en-US" sz="2400" dirty="0"/>
              <a:t>:~4]) AND ("UPF1 knockdown"[</a:t>
            </a:r>
            <a:r>
              <a:rPr lang="en-US" sz="2400" dirty="0" err="1"/>
              <a:t>tiab</a:t>
            </a:r>
            <a:r>
              <a:rPr lang="en-US" sz="2400" dirty="0"/>
              <a:t>:~4] OR "</a:t>
            </a:r>
            <a:r>
              <a:rPr lang="en-US" sz="2400" b="1" dirty="0"/>
              <a:t>UPF1 knockout</a:t>
            </a:r>
            <a:r>
              <a:rPr lang="en-US" sz="2400" dirty="0"/>
              <a:t>"[</a:t>
            </a:r>
            <a:r>
              <a:rPr lang="en-US" sz="2400" dirty="0" err="1"/>
              <a:t>tiab</a:t>
            </a:r>
            <a:r>
              <a:rPr lang="en-US" sz="2400" dirty="0"/>
              <a:t>:~4] OR "UPF1 depletion"[</a:t>
            </a:r>
            <a:r>
              <a:rPr lang="en-US" sz="2400" dirty="0" err="1"/>
              <a:t>tiab</a:t>
            </a:r>
            <a:r>
              <a:rPr lang="en-US" sz="2400" dirty="0"/>
              <a:t>:~4] OR "</a:t>
            </a:r>
            <a:r>
              <a:rPr lang="en-US" sz="2400" b="1" dirty="0"/>
              <a:t>UPF1 inhibition</a:t>
            </a:r>
            <a:r>
              <a:rPr lang="en-US" sz="2400" dirty="0"/>
              <a:t>"[</a:t>
            </a:r>
            <a:r>
              <a:rPr lang="en-US" sz="2400" dirty="0" err="1"/>
              <a:t>tiab</a:t>
            </a:r>
            <a:r>
              <a:rPr lang="en-US" sz="2400" dirty="0"/>
              <a:t>:~4] OR "UPF1 perturbation"[</a:t>
            </a:r>
            <a:r>
              <a:rPr lang="en-US" sz="2400" dirty="0" err="1"/>
              <a:t>tiab</a:t>
            </a:r>
            <a:r>
              <a:rPr lang="en-US" sz="2400" dirty="0"/>
              <a:t>:~4] OR "UPF2 knockdown"[</a:t>
            </a:r>
            <a:r>
              <a:rPr lang="en-US" sz="2400" dirty="0" err="1"/>
              <a:t>tiab</a:t>
            </a:r>
            <a:r>
              <a:rPr lang="en-US" sz="2400" dirty="0"/>
              <a:t>:~4] OR "UPF2 knockout"[</a:t>
            </a:r>
            <a:r>
              <a:rPr lang="en-US" sz="2400" dirty="0" err="1"/>
              <a:t>tiab</a:t>
            </a:r>
            <a:r>
              <a:rPr lang="en-US" sz="2400" dirty="0"/>
              <a:t>:~4] OR "UPF2 depletion"[</a:t>
            </a:r>
            <a:r>
              <a:rPr lang="en-US" sz="2400" dirty="0" err="1"/>
              <a:t>tiab</a:t>
            </a:r>
            <a:r>
              <a:rPr lang="en-US" sz="2400" dirty="0"/>
              <a:t>:~4] OR "UPF2 inhibition"[</a:t>
            </a:r>
            <a:r>
              <a:rPr lang="en-US" sz="2400" dirty="0" err="1"/>
              <a:t>tiab</a:t>
            </a:r>
            <a:r>
              <a:rPr lang="en-US" sz="2400" dirty="0"/>
              <a:t>:~4] OR "</a:t>
            </a:r>
            <a:r>
              <a:rPr lang="en-US" sz="2400" b="1" dirty="0"/>
              <a:t>UPF2 perturbation</a:t>
            </a:r>
            <a:r>
              <a:rPr lang="en-US" sz="2400" dirty="0"/>
              <a:t>"[</a:t>
            </a:r>
            <a:r>
              <a:rPr lang="en-US" sz="2400" dirty="0" err="1"/>
              <a:t>tiab</a:t>
            </a:r>
            <a:r>
              <a:rPr lang="en-US" sz="2400" dirty="0"/>
              <a:t>:~4] OR "NMD knockdown"[</a:t>
            </a:r>
            <a:r>
              <a:rPr lang="en-US" sz="2400" dirty="0" err="1"/>
              <a:t>tiab</a:t>
            </a:r>
            <a:r>
              <a:rPr lang="en-US" sz="2400" dirty="0"/>
              <a:t>:~4] OR "NMD knockout"[</a:t>
            </a:r>
            <a:r>
              <a:rPr lang="en-US" sz="2400" dirty="0" err="1"/>
              <a:t>tiab</a:t>
            </a:r>
            <a:r>
              <a:rPr lang="en-US" sz="2400" dirty="0"/>
              <a:t>:~4] OR "NMD depletion"[</a:t>
            </a:r>
            <a:r>
              <a:rPr lang="en-US" sz="2400" dirty="0" err="1"/>
              <a:t>tiab</a:t>
            </a:r>
            <a:r>
              <a:rPr lang="en-US" sz="2400" dirty="0"/>
              <a:t>:~4] OR "NMD inhibition"[</a:t>
            </a:r>
            <a:r>
              <a:rPr lang="en-US" sz="2400" dirty="0" err="1"/>
              <a:t>tiab</a:t>
            </a:r>
            <a:r>
              <a:rPr lang="en-US" sz="2400" dirty="0"/>
              <a:t>:~4] OR "NMD perturbation"[</a:t>
            </a:r>
            <a:r>
              <a:rPr lang="en-US" sz="2400" dirty="0" err="1"/>
              <a:t>tiab</a:t>
            </a:r>
            <a:r>
              <a:rPr lang="en-US" sz="2400" dirty="0"/>
              <a:t>:~4] OR "SMG1 knockdown"[</a:t>
            </a:r>
            <a:r>
              <a:rPr lang="en-US" sz="2400" dirty="0" err="1"/>
              <a:t>tiab</a:t>
            </a:r>
            <a:r>
              <a:rPr lang="en-US" sz="2400" dirty="0"/>
              <a:t>:~4] OR "</a:t>
            </a:r>
            <a:r>
              <a:rPr lang="en-US" sz="2400" b="1" dirty="0"/>
              <a:t>SMG1 knockout</a:t>
            </a:r>
            <a:r>
              <a:rPr lang="en-US" sz="2400" dirty="0"/>
              <a:t>"[</a:t>
            </a:r>
            <a:r>
              <a:rPr lang="en-US" sz="2400" dirty="0" err="1"/>
              <a:t>tiab</a:t>
            </a:r>
            <a:r>
              <a:rPr lang="en-US" sz="2400" dirty="0"/>
              <a:t>:~4] OR "SMG1 depletion"[</a:t>
            </a:r>
            <a:r>
              <a:rPr lang="en-US" sz="2400" dirty="0" err="1"/>
              <a:t>tiab</a:t>
            </a:r>
            <a:r>
              <a:rPr lang="en-US" sz="2400" dirty="0"/>
              <a:t>:~4] OR "SMG1 inhibition"[</a:t>
            </a:r>
            <a:r>
              <a:rPr lang="en-US" sz="2400" dirty="0" err="1"/>
              <a:t>tiab</a:t>
            </a:r>
            <a:r>
              <a:rPr lang="en-US" sz="2400" dirty="0"/>
              <a:t>:~4] OR "SMG1 perturbation"[</a:t>
            </a:r>
            <a:r>
              <a:rPr lang="en-US" sz="2400" dirty="0" err="1"/>
              <a:t>tiab</a:t>
            </a:r>
            <a:r>
              <a:rPr lang="en-US" sz="2400" dirty="0"/>
              <a:t>:~4] OR "SMG6 knockdown"[</a:t>
            </a:r>
            <a:r>
              <a:rPr lang="en-US" sz="2400" dirty="0" err="1"/>
              <a:t>tiab</a:t>
            </a:r>
            <a:r>
              <a:rPr lang="en-US" sz="2400" dirty="0"/>
              <a:t>:~4] OR "SMG6 knockout"[</a:t>
            </a:r>
            <a:r>
              <a:rPr lang="en-US" sz="2400" dirty="0" err="1"/>
              <a:t>tiab</a:t>
            </a:r>
            <a:r>
              <a:rPr lang="en-US" sz="2400" dirty="0"/>
              <a:t>:~4] OR "SMG6 depletion"[</a:t>
            </a:r>
            <a:r>
              <a:rPr lang="en-US" sz="2400" dirty="0" err="1"/>
              <a:t>tiab</a:t>
            </a:r>
            <a:r>
              <a:rPr lang="en-US" sz="2400" dirty="0"/>
              <a:t>:~4] OR "SMG6 inhibition"[</a:t>
            </a:r>
            <a:r>
              <a:rPr lang="en-US" sz="2400" dirty="0" err="1"/>
              <a:t>tiab</a:t>
            </a:r>
            <a:r>
              <a:rPr lang="en-US" sz="2400" dirty="0"/>
              <a:t>:~4] OR "SMG6 perturbation"[</a:t>
            </a:r>
            <a:r>
              <a:rPr lang="en-US" sz="2400" dirty="0" err="1"/>
              <a:t>tiab</a:t>
            </a:r>
            <a:r>
              <a:rPr lang="en-US" sz="2400" dirty="0"/>
              <a:t>:~4])) NOT </a:t>
            </a:r>
            <a:r>
              <a:rPr lang="en-US" sz="2400" b="1" dirty="0"/>
              <a:t>(Comment[pt] OR editorial[pt] OR congress[pt] OR letter[pt] OR preprint[pt] OR review[pt])</a:t>
            </a:r>
          </a:p>
        </p:txBody>
      </p:sp>
    </p:spTree>
    <p:extLst>
      <p:ext uri="{BB962C8B-B14F-4D97-AF65-F5344CB8AC3E}">
        <p14:creationId xmlns:p14="http://schemas.microsoft.com/office/powerpoint/2010/main" val="282821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C6F1-3825-5D72-12EC-2AD466CF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Discovery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A4B73E-452B-D731-EF70-C3FDC22D5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66081" y="2254250"/>
            <a:ext cx="8829673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81BC9E-DA6E-A921-404E-10E112C75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234" y="3429000"/>
            <a:ext cx="3017520" cy="1571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FF0906-93FE-ACCD-AD13-28E6C8221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62" y="3505200"/>
            <a:ext cx="2166261" cy="3206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52374A-444B-C158-A9AE-0DD020D8C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146" y="157517"/>
            <a:ext cx="4716376" cy="19693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BDA0EE-05A3-AF30-31E1-60D3AF4BC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517927"/>
            <a:ext cx="4518547" cy="16089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QueryBuilderBasics">
            <a:extLst>
              <a:ext uri="{FF2B5EF4-FFF2-40B4-BE49-F238E27FC236}">
                <a16:creationId xmlns:a16="http://schemas.microsoft.com/office/drawing/2014/main" id="{B688ABFA-9BEF-8E95-D61F-3443AB2AAF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246" y="1728788"/>
            <a:ext cx="3098568" cy="16240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421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E6F81-690D-15B6-4769-F164EE2A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62"/>
            <a:ext cx="10515600" cy="1325563"/>
          </a:xfrm>
        </p:spPr>
        <p:txBody>
          <a:bodyPr/>
          <a:lstStyle/>
          <a:p>
            <a:r>
              <a:rPr lang="en-US" dirty="0"/>
              <a:t>Dataset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9E8E4-EFA8-3D9E-3671-5972C41EB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Manually verified study designs, perturbations, controls, and sample assignments</a:t>
            </a:r>
          </a:p>
          <a:p>
            <a:r>
              <a:rPr lang="en-US" dirty="0"/>
              <a:t>Standardized metadata across GEO and </a:t>
            </a:r>
            <a:r>
              <a:rPr lang="en-US" dirty="0" err="1"/>
              <a:t>ArrayExpress</a:t>
            </a:r>
            <a:r>
              <a:rPr lang="en-US" dirty="0"/>
              <a:t>/</a:t>
            </a:r>
            <a:r>
              <a:rPr lang="en-US" dirty="0" err="1"/>
              <a:t>BioStudies</a:t>
            </a:r>
            <a:endParaRPr lang="en-US" dirty="0"/>
          </a:p>
          <a:p>
            <a:r>
              <a:rPr lang="en-US" dirty="0"/>
              <a:t>Separated clear NMD perturbations from secondary or mixed conditions</a:t>
            </a:r>
          </a:p>
          <a:p>
            <a:r>
              <a:rPr lang="en-US" dirty="0"/>
              <a:t>Linked reviewed samples to sequencing and repository accessions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910E34-EC56-1E55-3287-B8DE93DF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14879"/>
            <a:ext cx="4927600" cy="22296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1018BD-FD07-5C13-0DDA-6336F97AD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4055609"/>
            <a:ext cx="5715000" cy="272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2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BE72-4C20-0F66-3F2D-73F8A3F0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8255"/>
            <a:ext cx="2984500" cy="1325563"/>
          </a:xfrm>
        </p:spPr>
        <p:txBody>
          <a:bodyPr/>
          <a:lstStyle/>
          <a:p>
            <a:r>
              <a:rPr lang="en-US" dirty="0"/>
              <a:t>Searchable Resource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13087-F897-A188-D5E1-8F5447946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459195"/>
            <a:ext cx="3632200" cy="50178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Built an interactive Shiny application for exploring curated studies and samples</a:t>
            </a:r>
          </a:p>
          <a:p>
            <a:r>
              <a:rPr lang="en-US" dirty="0"/>
              <a:t>Search and filter by target, treatment, model, and accession</a:t>
            </a:r>
          </a:p>
          <a:p>
            <a:r>
              <a:rPr lang="en-US" dirty="0"/>
              <a:t>Displays and export reviewed annotations with supplemental repository metadata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A62AC-743D-A54A-9998-8B7D6AB6A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1013727"/>
            <a:ext cx="8331200" cy="438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02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6135-68F5-6DDD-5B1D-8E2A5CBE2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937"/>
            <a:ext cx="10515600" cy="1325563"/>
          </a:xfrm>
        </p:spPr>
        <p:txBody>
          <a:bodyPr/>
          <a:lstStyle/>
          <a:p>
            <a:r>
              <a:rPr lang="en-US" dirty="0"/>
              <a:t>Study-readiness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CEE99-EA21-5550-F822-887F9B4AB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5727700" cy="5032375"/>
          </a:xfrm>
        </p:spPr>
        <p:txBody>
          <a:bodyPr numCol="1">
            <a:normAutofit/>
          </a:bodyPr>
          <a:lstStyle/>
          <a:p>
            <a:r>
              <a:rPr lang="en-US" dirty="0"/>
              <a:t>Assessed perturbation clarity, controls, replication, and sequencing design</a:t>
            </a:r>
          </a:p>
          <a:p>
            <a:r>
              <a:rPr lang="en-US" dirty="0"/>
              <a:t>Distinguished manually reviewed annotations from automated classifications</a:t>
            </a:r>
          </a:p>
          <a:p>
            <a:r>
              <a:rPr lang="en-US" dirty="0"/>
              <a:t>Prioritized studies with clear matched comparisons and sufficient sample size</a:t>
            </a:r>
          </a:p>
          <a:p>
            <a:r>
              <a:rPr lang="en-US" dirty="0"/>
              <a:t>Flagged ambiguous or exploratory studies for additional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211EE-C202-9AD3-CF92-941DEC193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900" y="3089752"/>
            <a:ext cx="5338401" cy="3469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F87C0-FB11-0FEE-422B-CFF58BB17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866" y="298288"/>
            <a:ext cx="4114589" cy="251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9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D129-BCD4-215A-0DB7-0C13D26D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85889-08F6-B48F-CFB3-FDA66E825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5499100" cy="5156199"/>
          </a:xfrm>
        </p:spPr>
        <p:txBody>
          <a:bodyPr numCol="1">
            <a:normAutofit/>
          </a:bodyPr>
          <a:lstStyle/>
          <a:p>
            <a:r>
              <a:rPr lang="en-US" dirty="0"/>
              <a:t>Complete manual validation</a:t>
            </a:r>
          </a:p>
          <a:p>
            <a:r>
              <a:rPr lang="en-US" dirty="0"/>
              <a:t>Standardize terminology</a:t>
            </a:r>
          </a:p>
          <a:p>
            <a:r>
              <a:rPr lang="en-US" dirty="0"/>
              <a:t>Assign explicit comparison groups</a:t>
            </a:r>
          </a:p>
          <a:p>
            <a:r>
              <a:rPr lang="en-US" dirty="0"/>
              <a:t>Download and process the strongest candidate RNA-seq datasets.</a:t>
            </a:r>
          </a:p>
          <a:p>
            <a:r>
              <a:rPr lang="en-US" dirty="0"/>
              <a:t>Perform initial analyses </a:t>
            </a:r>
          </a:p>
          <a:p>
            <a:r>
              <a:rPr lang="en-US" dirty="0"/>
              <a:t>Integrate tools such as </a:t>
            </a:r>
            <a:r>
              <a:rPr lang="en-US" dirty="0" err="1"/>
              <a:t>JunctionScope</a:t>
            </a:r>
            <a:r>
              <a:rPr lang="en-US" dirty="0"/>
              <a:t> for targeted splice-junction assessment.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3145A-D8A2-9DB3-AA63-1D938350F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555" y="1440653"/>
            <a:ext cx="6117991" cy="397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70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64BC-F240-A4EC-12FC-DA3BEC43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D740E-C9A7-E0A7-F46D-71E059FE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90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1867</Words>
  <Application>Microsoft Office PowerPoint</Application>
  <PresentationFormat>Widescreen</PresentationFormat>
  <Paragraphs>221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Summer 2026 Independent Research</vt:lpstr>
      <vt:lpstr>The Central Dogma and Alternative Splicing</vt:lpstr>
      <vt:lpstr>Nonsense Mediated mRNA Decay (NMD)</vt:lpstr>
      <vt:lpstr>Summer Research Objective</vt:lpstr>
      <vt:lpstr>Directed Literature Search and Review</vt:lpstr>
      <vt:lpstr>Dataset Discovery</vt:lpstr>
      <vt:lpstr>Dataset Review</vt:lpstr>
      <vt:lpstr>Searchable Resource</vt:lpstr>
      <vt:lpstr>Study-readiness confidence</vt:lpstr>
      <vt:lpstr>Next Steps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Obermayer, Alyssa N</dc:creator>
  <cp:lastModifiedBy>Obermayer, Alyssa N</cp:lastModifiedBy>
  <cp:revision>2</cp:revision>
  <dcterms:created xsi:type="dcterms:W3CDTF">2026-07-23T16:42:21Z</dcterms:created>
  <dcterms:modified xsi:type="dcterms:W3CDTF">2026-07-24T22:06:29Z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7ca859-3e37-4801-9195-445cea77c2f5_Enabled">
    <vt:lpwstr>true</vt:lpwstr>
  </property>
  <property fmtid="{D5CDD505-2E9C-101B-9397-08002B2CF9AE}" pid="3" name="MSIP_Label_717ca859-3e37-4801-9195-445cea77c2f5_SetDate">
    <vt:lpwstr>2026-07-23T17:06:37Z</vt:lpwstr>
  </property>
  <property fmtid="{D5CDD505-2E9C-101B-9397-08002B2CF9AE}" pid="4" name="MSIP_Label_717ca859-3e37-4801-9195-445cea77c2f5_Method">
    <vt:lpwstr>Standard</vt:lpwstr>
  </property>
  <property fmtid="{D5CDD505-2E9C-101B-9397-08002B2CF9AE}" pid="5" name="MSIP_Label_717ca859-3e37-4801-9195-445cea77c2f5_Name">
    <vt:lpwstr>Level I (Low)</vt:lpwstr>
  </property>
  <property fmtid="{D5CDD505-2E9C-101B-9397-08002B2CF9AE}" pid="6" name="MSIP_Label_717ca859-3e37-4801-9195-445cea77c2f5_SiteId">
    <vt:lpwstr>8dc983c9-2077-4d2b-85f6-bb244ae6004e</vt:lpwstr>
  </property>
  <property fmtid="{D5CDD505-2E9C-101B-9397-08002B2CF9AE}" pid="7" name="MSIP_Label_717ca859-3e37-4801-9195-445cea77c2f5_ActionId">
    <vt:lpwstr>19f146b6-ddeb-4763-9807-52282d8b2b8a</vt:lpwstr>
  </property>
  <property fmtid="{D5CDD505-2E9C-101B-9397-08002B2CF9AE}" pid="8" name="MSIP_Label_717ca859-3e37-4801-9195-445cea77c2f5_ContentBits">
    <vt:lpwstr>0</vt:lpwstr>
  </property>
  <property fmtid="{D5CDD505-2E9C-101B-9397-08002B2CF9AE}" pid="9" name="MSIP_Label_717ca859-3e37-4801-9195-445cea77c2f5_Tag">
    <vt:lpwstr>10, 3, 0, 1</vt:lpwstr>
  </property>
</Properties>
</file>